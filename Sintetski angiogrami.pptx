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7" r:id="rId6"/>
    <p:sldId id="268" r:id="rId7"/>
    <p:sldId id="263" r:id="rId8"/>
    <p:sldId id="264" r:id="rId9"/>
    <p:sldId id="265" r:id="rId10"/>
    <p:sldId id="266" r:id="rId11"/>
  </p:sldIdLst>
  <p:sldSz cx="12192000" cy="6858000"/>
  <p:notesSz cx="6858000" cy="9144000"/>
  <p:embeddedFontLst>
    <p:embeddedFont>
      <p:font typeface="Century Schoolbook" panose="02040604050505020304" pitchFamily="18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Poppins" panose="00000500000000000000" pitchFamily="2" charset="-18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r-H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E6C3B77F-767F-D0DA-E28C-CBB23AB9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B8E3AC91-8EC5-4AC3-6C16-CE6DB4C0B2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>
            <a:extLst>
              <a:ext uri="{FF2B5EF4-FFF2-40B4-BE49-F238E27FC236}">
                <a16:creationId xmlns:a16="http://schemas.microsoft.com/office/drawing/2014/main" id="{0311D0C9-6ACE-7AEB-E404-48D50443A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12858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C0E9A29B-014E-82E8-94E0-B8747BEB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>
            <a:extLst>
              <a:ext uri="{FF2B5EF4-FFF2-40B4-BE49-F238E27FC236}">
                <a16:creationId xmlns:a16="http://schemas.microsoft.com/office/drawing/2014/main" id="{5D2BA4ED-F9B6-1BBF-BA1B-3D2CFC4D91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>
            <a:extLst>
              <a:ext uri="{FF2B5EF4-FFF2-40B4-BE49-F238E27FC236}">
                <a16:creationId xmlns:a16="http://schemas.microsoft.com/office/drawing/2014/main" id="{269B0B9F-88A2-E581-7AA8-69DC9FA9C8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92475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r-H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hr-H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www.wikidoc.org/index.php/Angiogra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105275" y="4749998"/>
            <a:ext cx="39814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Lara Lacić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433622"/>
            <a:ext cx="1160145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Sintetski </a:t>
            </a:r>
            <a:r>
              <a:rPr lang="en-US" sz="4400" b="1" i="0" u="none" strike="noStrike" cap="none" dirty="0" err="1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angiogrami</a:t>
            </a:r>
            <a:r>
              <a:rPr lang="en-US" sz="4400" b="1" i="0" u="none" strike="noStrike" cap="none" dirty="0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iz</a:t>
            </a:r>
            <a:r>
              <a:rPr lang="en-US" sz="4400" b="1" i="0" u="none" strike="noStrike" cap="none" dirty="0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proceduraln</a:t>
            </a:r>
            <a:r>
              <a:rPr lang="hr-HR" sz="4400" b="1" i="0" u="none" strike="noStrike" cap="none" dirty="0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o generiranih vaskularnih</a:t>
            </a:r>
            <a:r>
              <a:rPr lang="en-US" sz="4400" b="1" i="0" u="none" strike="noStrike" cap="none" dirty="0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 </a:t>
            </a:r>
            <a:r>
              <a:rPr lang="en-US" sz="4400" b="1" i="0" u="none" strike="noStrike" cap="none" dirty="0" err="1">
                <a:solidFill>
                  <a:srgbClr val="FFFFFF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mreža</a:t>
            </a:r>
            <a:endParaRPr sz="4400" dirty="0">
              <a:latin typeface="Century Schoolbook" panose="02040604050505020304" pitchFamily="18" charset="0"/>
            </a:endParaRP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B9FA8D8F-8D81-B8A1-6B15-912133D6F348}"/>
              </a:ext>
            </a:extLst>
          </p:cNvPr>
          <p:cNvSpPr txBox="1"/>
          <p:nvPr/>
        </p:nvSpPr>
        <p:spPr>
          <a:xfrm>
            <a:off x="3008671" y="4333875"/>
            <a:ext cx="617465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Obrada slike i računalni vid</a:t>
            </a:r>
            <a:endParaRPr lang="hr-HR" sz="1400" dirty="0"/>
          </a:p>
        </p:txBody>
      </p:sp>
      <p:pic>
        <p:nvPicPr>
          <p:cNvPr id="4" name="Slika 3" descr="FERIT Osijek (@ferit.osijek) · Osijek">
            <a:extLst>
              <a:ext uri="{FF2B5EF4-FFF2-40B4-BE49-F238E27FC236}">
                <a16:creationId xmlns:a16="http://schemas.microsoft.com/office/drawing/2014/main" id="{F7C194CA-C3F9-7BBA-742B-23762D3B1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0" y="-100718"/>
            <a:ext cx="1455327" cy="1455327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9E5C2E4D-AAF5-E6DE-DBE5-506478ED5560}"/>
              </a:ext>
            </a:extLst>
          </p:cNvPr>
          <p:cNvSpPr txBox="1"/>
          <p:nvPr/>
        </p:nvSpPr>
        <p:spPr>
          <a:xfrm>
            <a:off x="388372" y="1104725"/>
            <a:ext cx="1283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FERIT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85937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242869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318879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875" y="394889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4627009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2000" y="571500"/>
            <a:ext cx="108013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Što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 je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angiografija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?</a:t>
            </a:r>
            <a:endParaRPr sz="3600" dirty="0">
              <a:latin typeface="Century Schoolbook" panose="02040604050505020304" pitchFamily="18" charset="0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847723" y="2251741"/>
            <a:ext cx="49053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Invazivna dijagnostička metoda</a:t>
            </a:r>
            <a:endParaRPr sz="2000"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847725" y="2975609"/>
            <a:ext cx="49053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Koristi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kontrastna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sredstva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X-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zrake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847724" y="3745527"/>
            <a:ext cx="49053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fi-FI" sz="20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Vizualizacija lumena krvnih žila</a:t>
            </a:r>
            <a:endParaRPr lang="fi-FI" sz="2000"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904875" y="4469395"/>
            <a:ext cx="49053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dirty="0">
                <a:solidFill>
                  <a:srgbClr val="1E293B"/>
                </a:solidFill>
                <a:latin typeface="Inter"/>
                <a:ea typeface="Inter"/>
                <a:sym typeface="Inter"/>
              </a:rPr>
              <a:t>Otkrivanje bolesti srca, mozga ili krvnih žila u ostatku tijela</a:t>
            </a:r>
            <a:endParaRPr sz="2000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6F67FDA3-2396-FF47-42ED-CB78F4EB44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711950" y="177800"/>
            <a:ext cx="4851400" cy="65024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764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7046"/>
            <a:ext cx="5238750" cy="2914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0356" y="294634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0356" y="380724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20356" y="487864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62000" y="571500"/>
            <a:ext cx="108013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Problem: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Oskudica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podataka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840581" y="3426767"/>
            <a:ext cx="470058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90%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952499" y="4588676"/>
            <a:ext cx="4476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Medicinskih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slika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nije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anotirano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za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duboko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učenje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71498" y="1733850"/>
            <a:ext cx="113004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Strojno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učenje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zahtijeva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tisuće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visokokvalitetnih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slika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točnim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segmentacijskim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maskama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b="1"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6715123" y="2777773"/>
            <a:ext cx="515683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0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rivatnost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pacijenata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otežavaju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dijeljenje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6715123" y="3599705"/>
            <a:ext cx="49053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Ručna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anotacija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je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skupa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zahtijeva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stručnjake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153" name="Google Shape;153;p16"/>
          <p:cNvSpPr txBox="1"/>
          <p:nvPr/>
        </p:nvSpPr>
        <p:spPr>
          <a:xfrm>
            <a:off x="6715123" y="4736409"/>
            <a:ext cx="490537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Rijetke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patologije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teško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prikupljaju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baze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3443"/>
            <a:ext cx="3492400" cy="402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083443"/>
            <a:ext cx="3492549" cy="402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083443"/>
            <a:ext cx="3492400" cy="402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1949" y="2500686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323" y="250068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549" y="25032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62000" y="571500"/>
            <a:ext cx="108013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Rješenje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: Sintetski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podaci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794227" y="3154898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Neograničeno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66775" y="4247257"/>
            <a:ext cx="29018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Mogućnost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generiranja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beskonačnog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broja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varijacija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4572374" y="3152001"/>
            <a:ext cx="30470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Robusnost modela</a:t>
            </a:r>
            <a:endParaRPr dirty="0"/>
          </a:p>
        </p:txBody>
      </p:sp>
      <p:sp>
        <p:nvSpPr>
          <p:cNvPr id="170" name="Google Shape;170;p17"/>
          <p:cNvSpPr txBox="1"/>
          <p:nvPr/>
        </p:nvSpPr>
        <p:spPr>
          <a:xfrm>
            <a:off x="4635400" y="4143695"/>
            <a:ext cx="290199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Simulacija podataka i treniranje modela nad različitim varijacijama i kvalitetom</a:t>
            </a:r>
            <a:endParaRPr sz="1800" dirty="0"/>
          </a:p>
        </p:txBody>
      </p:sp>
      <p:sp>
        <p:nvSpPr>
          <p:cNvPr id="171" name="Google Shape;171;p17"/>
          <p:cNvSpPr txBox="1"/>
          <p:nvPr/>
        </p:nvSpPr>
        <p:spPr>
          <a:xfrm>
            <a:off x="8350830" y="3106694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Privatnost</a:t>
            </a:r>
            <a:endParaRPr dirty="0"/>
          </a:p>
        </p:txBody>
      </p:sp>
      <p:sp>
        <p:nvSpPr>
          <p:cNvPr id="172" name="Google Shape;172;p17"/>
          <p:cNvSpPr txBox="1"/>
          <p:nvPr/>
        </p:nvSpPr>
        <p:spPr>
          <a:xfrm>
            <a:off x="8423225" y="4247257"/>
            <a:ext cx="290185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Nema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etičkih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jer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podaci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ne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pripadaju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stvarnim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ljudima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509D501B-FB03-3142-9059-61CE233C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>
            <a:extLst>
              <a:ext uri="{FF2B5EF4-FFF2-40B4-BE49-F238E27FC236}">
                <a16:creationId xmlns:a16="http://schemas.microsoft.com/office/drawing/2014/main" id="{35A86B31-7F42-56B2-D6A9-E9341855E8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>
            <a:extLst>
              <a:ext uri="{FF2B5EF4-FFF2-40B4-BE49-F238E27FC236}">
                <a16:creationId xmlns:a16="http://schemas.microsoft.com/office/drawing/2014/main" id="{143BCD71-3FC1-3017-3BE1-4D97186C97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9924"/>
            <a:ext cx="3492400" cy="2143185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</p:pic>
      <p:pic>
        <p:nvPicPr>
          <p:cNvPr id="160" name="Google Shape;160;p17" descr="image.png">
            <a:extLst>
              <a:ext uri="{FF2B5EF4-FFF2-40B4-BE49-F238E27FC236}">
                <a16:creationId xmlns:a16="http://schemas.microsoft.com/office/drawing/2014/main" id="{E63C7FD5-E96D-BEF8-7A28-BFB38991FF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632306"/>
            <a:ext cx="3492549" cy="2160803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</p:pic>
      <p:pic>
        <p:nvPicPr>
          <p:cNvPr id="161" name="Google Shape;161;p17" descr="image.png">
            <a:extLst>
              <a:ext uri="{FF2B5EF4-FFF2-40B4-BE49-F238E27FC236}">
                <a16:creationId xmlns:a16="http://schemas.microsoft.com/office/drawing/2014/main" id="{2B63457B-1A2C-F4FB-E1E5-99AECEADE31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632306"/>
            <a:ext cx="3492400" cy="2160803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</p:pic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16359583-F0F7-6FA1-7750-6C66DAD6429B}"/>
              </a:ext>
            </a:extLst>
          </p:cNvPr>
          <p:cNvSpPr txBox="1"/>
          <p:nvPr/>
        </p:nvSpPr>
        <p:spPr>
          <a:xfrm>
            <a:off x="762000" y="571500"/>
            <a:ext cx="108013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3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Implementacija koda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166" name="Google Shape;166;p17">
            <a:extLst>
              <a:ext uri="{FF2B5EF4-FFF2-40B4-BE49-F238E27FC236}">
                <a16:creationId xmlns:a16="http://schemas.microsoft.com/office/drawing/2014/main" id="{76014F0F-DC3A-8CBC-FD61-078BFA9BC5D7}"/>
              </a:ext>
            </a:extLst>
          </p:cNvPr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0EAEACAA-D4EE-163A-FDF7-78507EAB25E5}"/>
              </a:ext>
            </a:extLst>
          </p:cNvPr>
          <p:cNvSpPr txBox="1"/>
          <p:nvPr/>
        </p:nvSpPr>
        <p:spPr>
          <a:xfrm>
            <a:off x="876150" y="2696375"/>
            <a:ext cx="2901850" cy="57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fraktalni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šum +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domain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warp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+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gaussov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šum</a:t>
            </a:r>
            <a:endParaRPr lang="en-US" sz="1800" kern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402D0CC3-9FB5-6710-8F32-9A16EED5DA2A}"/>
              </a:ext>
            </a:extLst>
          </p:cNvPr>
          <p:cNvSpPr txBox="1"/>
          <p:nvPr/>
        </p:nvSpPr>
        <p:spPr>
          <a:xfrm>
            <a:off x="4671171" y="2739997"/>
            <a:ext cx="2901999" cy="57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rekurzivno grananje + 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polylines</a:t>
            </a:r>
            <a:endParaRPr lang="en-US" sz="1800" kern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2" name="Google Shape;172;p17">
            <a:extLst>
              <a:ext uri="{FF2B5EF4-FFF2-40B4-BE49-F238E27FC236}">
                <a16:creationId xmlns:a16="http://schemas.microsoft.com/office/drawing/2014/main" id="{A959D8DE-8FAD-DC3E-18A1-388F075B8714}"/>
              </a:ext>
            </a:extLst>
          </p:cNvPr>
          <p:cNvSpPr txBox="1"/>
          <p:nvPr/>
        </p:nvSpPr>
        <p:spPr>
          <a:xfrm>
            <a:off x="8432822" y="2408860"/>
            <a:ext cx="2901850" cy="90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hr-HR" sz="1800" kern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elipsa +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gaussovo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zamućenje</a:t>
            </a:r>
            <a:endParaRPr lang="en-US" sz="1800" kern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FAA6B75A-F4CC-4BE8-8AEE-3C1DB77350C2}"/>
              </a:ext>
            </a:extLst>
          </p:cNvPr>
          <p:cNvSpPr txBox="1"/>
          <p:nvPr/>
        </p:nvSpPr>
        <p:spPr>
          <a:xfrm>
            <a:off x="1623232" y="1821975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2">
                    <a:lumMod val="50000"/>
                  </a:schemeClr>
                </a:solidFill>
              </a:rPr>
              <a:t>POZADINA</a:t>
            </a:r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347C92B3-BD0F-C323-6FFC-829E6408BD39}"/>
              </a:ext>
            </a:extLst>
          </p:cNvPr>
          <p:cNvSpPr txBox="1"/>
          <p:nvPr/>
        </p:nvSpPr>
        <p:spPr>
          <a:xfrm>
            <a:off x="4682716" y="1838791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r-HR" sz="1800" b="1" dirty="0">
                <a:solidFill>
                  <a:schemeClr val="bg2">
                    <a:lumMod val="50000"/>
                  </a:schemeClr>
                </a:solidFill>
              </a:rPr>
              <a:t>VASKULARNO STABLO</a:t>
            </a:r>
          </a:p>
          <a:p>
            <a:pPr algn="ctr"/>
            <a:r>
              <a:rPr lang="hr-HR" sz="1800" b="1" dirty="0">
                <a:solidFill>
                  <a:schemeClr val="bg2">
                    <a:lumMod val="50000"/>
                  </a:schemeClr>
                </a:solidFill>
              </a:rPr>
              <a:t> I KATETER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A0D9C52B-1E04-B413-A547-23F9F0D6E440}"/>
              </a:ext>
            </a:extLst>
          </p:cNvPr>
          <p:cNvSpPr txBox="1"/>
          <p:nvPr/>
        </p:nvSpPr>
        <p:spPr>
          <a:xfrm>
            <a:off x="8938617" y="1821975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2">
                    <a:lumMod val="50000"/>
                  </a:schemeClr>
                </a:solidFill>
              </a:rPr>
              <a:t>SILUETA SRCA</a:t>
            </a:r>
          </a:p>
        </p:txBody>
      </p:sp>
      <p:pic>
        <p:nvPicPr>
          <p:cNvPr id="7" name="Google Shape;159;p17" descr="image.png">
            <a:extLst>
              <a:ext uri="{FF2B5EF4-FFF2-40B4-BE49-F238E27FC236}">
                <a16:creationId xmlns:a16="http://schemas.microsoft.com/office/drawing/2014/main" id="{9E2F84E5-0D07-CA92-A2DE-0BF0E201D8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6040" y="4010662"/>
            <a:ext cx="3492400" cy="2143185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4B46BF19-0312-6733-05D0-013518786611}"/>
              </a:ext>
            </a:extLst>
          </p:cNvPr>
          <p:cNvSpPr txBox="1"/>
          <p:nvPr/>
        </p:nvSpPr>
        <p:spPr>
          <a:xfrm>
            <a:off x="3311130" y="4163608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kern="1200" dirty="0">
                <a:solidFill>
                  <a:schemeClr val="bg2">
                    <a:lumMod val="50000"/>
                  </a:schemeClr>
                </a:solidFill>
                <a:latin typeface="Inter" panose="020B0604020202020204" charset="0"/>
                <a:ea typeface="Inter" panose="020B0604020202020204" charset="0"/>
              </a:rPr>
              <a:t>SJENE REBARA</a:t>
            </a: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D12D8B30-F0F9-117C-540F-7061A5E8393C}"/>
              </a:ext>
            </a:extLst>
          </p:cNvPr>
          <p:cNvSpPr txBox="1"/>
          <p:nvPr/>
        </p:nvSpPr>
        <p:spPr>
          <a:xfrm>
            <a:off x="2704047" y="4912610"/>
            <a:ext cx="329120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parabola +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gaussovo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zamućenje</a:t>
            </a:r>
            <a:endParaRPr lang="en-US" sz="1800" kern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4" name="Google Shape;160;p17" descr="image.png">
            <a:extLst>
              <a:ext uri="{FF2B5EF4-FFF2-40B4-BE49-F238E27FC236}">
                <a16:creationId xmlns:a16="http://schemas.microsoft.com/office/drawing/2014/main" id="{8795EF2C-3B65-C760-E579-2775A68ADEA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199" y="4010662"/>
            <a:ext cx="3492549" cy="2132115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C63ADA01-1684-44D4-CB22-96F7E39FB1C3}"/>
              </a:ext>
            </a:extLst>
          </p:cNvPr>
          <p:cNvSpPr txBox="1"/>
          <p:nvPr/>
        </p:nvSpPr>
        <p:spPr>
          <a:xfrm>
            <a:off x="6514517" y="4801462"/>
            <a:ext cx="3245909" cy="113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linearna kombinacija slojeva + ovisni šum +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motion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blur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+ </a:t>
            </a:r>
            <a:r>
              <a:rPr lang="hr-HR" sz="1800" kern="1200" dirty="0" err="1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vinjetiranje</a:t>
            </a:r>
            <a:r>
              <a:rPr lang="hr-HR" sz="1800" kern="1200" dirty="0">
                <a:solidFill>
                  <a:schemeClr val="tx1"/>
                </a:solidFill>
                <a:latin typeface="Inter" panose="020B0604020202020204" charset="0"/>
                <a:ea typeface="Inter" panose="020B0604020202020204" charset="0"/>
              </a:rPr>
              <a:t> </a:t>
            </a:r>
            <a:endParaRPr lang="en-US" sz="1800" kern="1200" dirty="0">
              <a:solidFill>
                <a:schemeClr val="tx1"/>
              </a:solidFill>
              <a:latin typeface="Inter" panose="020B0604020202020204" charset="0"/>
              <a:ea typeface="Inter" panose="020B0604020202020204" charset="0"/>
            </a:endParaRPr>
          </a:p>
          <a:p>
            <a:endParaRPr lang="hr-HR" dirty="0"/>
          </a:p>
        </p:txBody>
      </p:sp>
      <p:sp>
        <p:nvSpPr>
          <p:cNvPr id="15" name="TekstniOkvir 14">
            <a:extLst>
              <a:ext uri="{FF2B5EF4-FFF2-40B4-BE49-F238E27FC236}">
                <a16:creationId xmlns:a16="http://schemas.microsoft.com/office/drawing/2014/main" id="{9BABF0D5-A500-F1FB-CE9C-1BABDDC56647}"/>
              </a:ext>
            </a:extLst>
          </p:cNvPr>
          <p:cNvSpPr txBox="1"/>
          <p:nvPr/>
        </p:nvSpPr>
        <p:spPr>
          <a:xfrm>
            <a:off x="7224402" y="4183237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800" b="1" dirty="0">
                <a:solidFill>
                  <a:schemeClr val="bg2">
                    <a:lumMod val="50000"/>
                  </a:schemeClr>
                </a:solidFill>
              </a:rPr>
              <a:t>POSTOBRADA</a:t>
            </a:r>
          </a:p>
        </p:txBody>
      </p:sp>
    </p:spTree>
    <p:extLst>
      <p:ext uri="{BB962C8B-B14F-4D97-AF65-F5344CB8AC3E}">
        <p14:creationId xmlns:p14="http://schemas.microsoft.com/office/powerpoint/2010/main" val="7299544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>
          <a:extLst>
            <a:ext uri="{FF2B5EF4-FFF2-40B4-BE49-F238E27FC236}">
              <a16:creationId xmlns:a16="http://schemas.microsoft.com/office/drawing/2014/main" id="{BBD5AB62-4924-9069-2208-9CF99F66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>
            <a:extLst>
              <a:ext uri="{FF2B5EF4-FFF2-40B4-BE49-F238E27FC236}">
                <a16:creationId xmlns:a16="http://schemas.microsoft.com/office/drawing/2014/main" id="{890D1347-9E2B-058D-031E-BE837A39B8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C9409B94-5981-9907-E565-150E7BC5E58A}"/>
              </a:ext>
            </a:extLst>
          </p:cNvPr>
          <p:cNvSpPr txBox="1"/>
          <p:nvPr/>
        </p:nvSpPr>
        <p:spPr>
          <a:xfrm>
            <a:off x="762000" y="571500"/>
            <a:ext cx="108013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3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Implementacija koda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166" name="Google Shape;166;p17">
            <a:extLst>
              <a:ext uri="{FF2B5EF4-FFF2-40B4-BE49-F238E27FC236}">
                <a16:creationId xmlns:a16="http://schemas.microsoft.com/office/drawing/2014/main" id="{CA764CB0-8705-CEEE-7DEC-F922839FC696}"/>
              </a:ext>
            </a:extLst>
          </p:cNvPr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531F3BDA-E8AF-9257-8616-6754AF022D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38"/>
          <a:stretch>
            <a:fillRect/>
          </a:stretch>
        </p:blipFill>
        <p:spPr>
          <a:xfrm>
            <a:off x="1529715" y="1838960"/>
            <a:ext cx="9265920" cy="391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37491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859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762000" y="571500"/>
            <a:ext cx="108013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Rezultat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 1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D46B2885-B16F-FB4D-FDA9-D026A10E43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674" t="56805" r="59940"/>
          <a:stretch>
            <a:fillRect/>
          </a:stretch>
        </p:blipFill>
        <p:spPr>
          <a:xfrm>
            <a:off x="6485199" y="1074852"/>
            <a:ext cx="5238750" cy="4997335"/>
          </a:xfrm>
          <a:prstGeom prst="rect">
            <a:avLst/>
          </a:prstGeom>
        </p:spPr>
      </p:pic>
      <p:sp>
        <p:nvSpPr>
          <p:cNvPr id="3" name="TekstniOkvir 2">
            <a:extLst>
              <a:ext uri="{FF2B5EF4-FFF2-40B4-BE49-F238E27FC236}">
                <a16:creationId xmlns:a16="http://schemas.microsoft.com/office/drawing/2014/main" id="{9AAC3E60-197C-C95C-636D-CE371F9E5071}"/>
              </a:ext>
            </a:extLst>
          </p:cNvPr>
          <p:cNvSpPr txBox="1"/>
          <p:nvPr/>
        </p:nvSpPr>
        <p:spPr>
          <a:xfrm>
            <a:off x="468051" y="1785937"/>
            <a:ext cx="5342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/>
              <a:t>Pozitivne karakteristike: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000" dirty="0"/>
              <a:t>Prirodno stanjivanje kroz grananje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000" dirty="0"/>
              <a:t>Vaskularna mreža ispravno smještena unutar srca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000" dirty="0"/>
              <a:t>Svijetli obruč oko organa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000" dirty="0"/>
              <a:t>Zadovoljavajuća tekstura s finim šumom</a:t>
            </a:r>
          </a:p>
          <a:p>
            <a:endParaRPr lang="hr-HR" sz="2000" b="1" dirty="0"/>
          </a:p>
          <a:p>
            <a:r>
              <a:rPr lang="hr-HR" sz="2000" b="1" dirty="0"/>
              <a:t>Negativne karakteristike: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Previše oštar rez katetera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Krajevi žila gube zaobljenost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Nedostatak dimenzionalnost žila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Nehomogena ispuna srca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62000" y="571500"/>
            <a:ext cx="108013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Rezultat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 2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48AFE93A-0288-90F8-B05D-4F5AA52D4C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801" t="4296" r="60193" b="50069"/>
          <a:stretch>
            <a:fillRect/>
          </a:stretch>
        </p:blipFill>
        <p:spPr>
          <a:xfrm>
            <a:off x="6545725" y="881062"/>
            <a:ext cx="5074775" cy="5211279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62BA91E5-C7F5-0F3D-EBD3-B6442D6A4DFE}"/>
              </a:ext>
            </a:extLst>
          </p:cNvPr>
          <p:cNvSpPr txBox="1"/>
          <p:nvPr/>
        </p:nvSpPr>
        <p:spPr>
          <a:xfrm>
            <a:off x="503379" y="1813173"/>
            <a:ext cx="559262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000" b="1" dirty="0"/>
              <a:t>Pozitivne karakteristike: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000" dirty="0"/>
              <a:t>Prirodno stanjivanje kroz grananje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000" dirty="0"/>
              <a:t>Zadovoljavajući izgled pozadine</a:t>
            </a:r>
          </a:p>
          <a:p>
            <a:endParaRPr lang="hr-HR" sz="2000" b="1" dirty="0"/>
          </a:p>
          <a:p>
            <a:r>
              <a:rPr lang="hr-HR" sz="2000" b="1" dirty="0"/>
              <a:t>Negativne karakteristike: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Neprirodno račvanje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Vaskularna mreža nije ispravno smještena unutar srca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Oštri završetci žila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Nehomogena ispuna srca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859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62000" y="571500"/>
            <a:ext cx="108013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Rezultat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Century Schoolbook" panose="02040604050505020304" pitchFamily="18" charset="0"/>
                <a:ea typeface="Poppins"/>
                <a:cs typeface="Poppins"/>
                <a:sym typeface="Poppins"/>
              </a:rPr>
              <a:t> 3</a:t>
            </a:r>
            <a:endParaRPr dirty="0">
              <a:latin typeface="Century Schoolbook" panose="02040604050505020304" pitchFamily="18" charset="0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7E1B40B0-8863-6C1E-09D7-095B3DBF70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060" t="56157" r="39554"/>
          <a:stretch>
            <a:fillRect/>
          </a:stretch>
        </p:blipFill>
        <p:spPr>
          <a:xfrm>
            <a:off x="6381750" y="941216"/>
            <a:ext cx="5398143" cy="5226555"/>
          </a:xfrm>
          <a:prstGeom prst="rect">
            <a:avLst/>
          </a:prstGeom>
        </p:spPr>
      </p:pic>
      <p:sp>
        <p:nvSpPr>
          <p:cNvPr id="4" name="TekstniOkvir 3">
            <a:extLst>
              <a:ext uri="{FF2B5EF4-FFF2-40B4-BE49-F238E27FC236}">
                <a16:creationId xmlns:a16="http://schemas.microsoft.com/office/drawing/2014/main" id="{6298DA87-369F-CE63-6308-A8C0F8055FF3}"/>
              </a:ext>
            </a:extLst>
          </p:cNvPr>
          <p:cNvSpPr txBox="1"/>
          <p:nvPr/>
        </p:nvSpPr>
        <p:spPr>
          <a:xfrm>
            <a:off x="478541" y="1897231"/>
            <a:ext cx="618666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sz="2000" b="1" dirty="0"/>
              <a:t>Pozitivne karakteristike: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1800" dirty="0"/>
              <a:t>Prirodno stanjivanje kroz grananje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1800" dirty="0"/>
              <a:t>Prihvatljiva razgranatost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1800" dirty="0"/>
              <a:t>Zadovoljavajući izgled pozadine</a:t>
            </a:r>
          </a:p>
          <a:p>
            <a:endParaRPr lang="hr-HR" sz="2000" b="1" dirty="0"/>
          </a:p>
          <a:p>
            <a:r>
              <a:rPr lang="hr-HR" sz="2000" b="1" dirty="0"/>
              <a:t>Negativne karakteristike: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800" dirty="0"/>
              <a:t>Previše oštar rez katetera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800" dirty="0"/>
              <a:t>Krajevi žila gube zaobljenost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800" dirty="0"/>
              <a:t>Nedostatak dimenzionalnost žila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1800" dirty="0"/>
              <a:t>Nehomogena ispuna srca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5619750" y="2859434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3580685" y="3183284"/>
            <a:ext cx="503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Hvala na pažnji!</a:t>
            </a:r>
            <a:endParaRPr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277</Words>
  <Application>Microsoft Office PowerPoint</Application>
  <PresentationFormat>Široki zaslon</PresentationFormat>
  <Paragraphs>71</Paragraphs>
  <Slides>10</Slides>
  <Notes>10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Schoolbook</vt:lpstr>
      <vt:lpstr>Inter</vt:lpstr>
      <vt:lpstr>Poppins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Korisnik</dc:creator>
  <cp:lastModifiedBy>Lara Lacić</cp:lastModifiedBy>
  <cp:revision>5</cp:revision>
  <dcterms:modified xsi:type="dcterms:W3CDTF">2026-07-16T07:40:13Z</dcterms:modified>
</cp:coreProperties>
</file>